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16459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9126"/>
    <a:srgbClr val="D6D632"/>
    <a:srgbClr val="40DD2B"/>
    <a:srgbClr val="26D0E2"/>
    <a:srgbClr val="D7F5CD"/>
    <a:srgbClr val="FCDCBF"/>
    <a:srgbClr val="BFE7FF"/>
    <a:srgbClr val="FFCFE7"/>
    <a:srgbClr val="FED67F"/>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3" autoAdjust="0"/>
    <p:restoredTop sz="94660"/>
  </p:normalViewPr>
  <p:slideViewPr>
    <p:cSldViewPr snapToGrid="0">
      <p:cViewPr>
        <p:scale>
          <a:sx n="47" d="100"/>
          <a:sy n="47" d="100"/>
        </p:scale>
        <p:origin x="167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1" y="5387365"/>
            <a:ext cx="13990320" cy="11460480"/>
          </a:xfrm>
        </p:spPr>
        <p:txBody>
          <a:bodyPr anchor="b"/>
          <a:lstStyle>
            <a:lvl1pPr algn="ctr">
              <a:defRPr sz="10810"/>
            </a:lvl1pPr>
          </a:lstStyle>
          <a:p>
            <a:r>
              <a:rPr lang="en-US"/>
              <a:t>Click to edit Master title style</a:t>
            </a:r>
            <a:endParaRPr lang="en-US" dirty="0"/>
          </a:p>
        </p:txBody>
      </p:sp>
      <p:sp>
        <p:nvSpPr>
          <p:cNvPr id="3" name="Subtitle 2"/>
          <p:cNvSpPr>
            <a:spLocks noGrp="1"/>
          </p:cNvSpPr>
          <p:nvPr>
            <p:ph type="subTitle" idx="1"/>
          </p:nvPr>
        </p:nvSpPr>
        <p:spPr>
          <a:xfrm>
            <a:off x="2057400" y="17289780"/>
            <a:ext cx="12344400" cy="7947659"/>
          </a:xfrm>
        </p:spPr>
        <p:txBody>
          <a:bodyPr/>
          <a:lstStyle>
            <a:lvl1pPr marL="0" indent="0" algn="ctr">
              <a:buNone/>
              <a:defRPr sz="4323"/>
            </a:lvl1pPr>
            <a:lvl2pPr marL="823285" indent="0" algn="ctr">
              <a:buNone/>
              <a:defRPr sz="3602"/>
            </a:lvl2pPr>
            <a:lvl3pPr marL="1646571" indent="0" algn="ctr">
              <a:buNone/>
              <a:defRPr sz="3241"/>
            </a:lvl3pPr>
            <a:lvl4pPr marL="2469856" indent="0" algn="ctr">
              <a:buNone/>
              <a:defRPr sz="2880"/>
            </a:lvl4pPr>
            <a:lvl5pPr marL="3293142" indent="0" algn="ctr">
              <a:buNone/>
              <a:defRPr sz="2880"/>
            </a:lvl5pPr>
            <a:lvl6pPr marL="4116427" indent="0" algn="ctr">
              <a:buNone/>
              <a:defRPr sz="2880"/>
            </a:lvl6pPr>
            <a:lvl7pPr marL="4939713" indent="0" algn="ctr">
              <a:buNone/>
              <a:defRPr sz="2880"/>
            </a:lvl7pPr>
            <a:lvl8pPr marL="5762993" indent="0" algn="ctr">
              <a:buNone/>
              <a:defRPr sz="2880"/>
            </a:lvl8pPr>
            <a:lvl9pPr marL="6586284" indent="0" algn="ctr">
              <a:buNone/>
              <a:defRPr sz="28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668891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12115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8206752"/>
            <a:ext cx="14196060" cy="13693136"/>
          </a:xfrm>
        </p:spPr>
        <p:txBody>
          <a:bodyPr anchor="b"/>
          <a:lstStyle>
            <a:lvl1pPr>
              <a:defRPr sz="10810"/>
            </a:lvl1pPr>
          </a:lstStyle>
          <a:p>
            <a:r>
              <a:rPr lang="en-US"/>
              <a:t>Click to edit Master title style</a:t>
            </a:r>
            <a:endParaRPr lang="en-US" dirty="0"/>
          </a:p>
        </p:txBody>
      </p:sp>
      <p:sp>
        <p:nvSpPr>
          <p:cNvPr id="3" name="Text Placeholder 2"/>
          <p:cNvSpPr>
            <a:spLocks noGrp="1"/>
          </p:cNvSpPr>
          <p:nvPr>
            <p:ph type="body" idx="1"/>
          </p:nvPr>
        </p:nvSpPr>
        <p:spPr>
          <a:xfrm>
            <a:off x="1122998" y="22029429"/>
            <a:ext cx="14196060" cy="7200899"/>
          </a:xfrm>
        </p:spPr>
        <p:txBody>
          <a:bodyPr/>
          <a:lstStyle>
            <a:lvl1pPr marL="0" indent="0">
              <a:buNone/>
              <a:defRPr sz="4323">
                <a:solidFill>
                  <a:schemeClr val="tx1"/>
                </a:solidFill>
              </a:defRPr>
            </a:lvl1pPr>
            <a:lvl2pPr marL="823285" indent="0">
              <a:buNone/>
              <a:defRPr sz="3602">
                <a:solidFill>
                  <a:schemeClr val="tx1">
                    <a:tint val="75000"/>
                  </a:schemeClr>
                </a:solidFill>
              </a:defRPr>
            </a:lvl2pPr>
            <a:lvl3pPr marL="1646571" indent="0">
              <a:buNone/>
              <a:defRPr sz="3241">
                <a:solidFill>
                  <a:schemeClr val="tx1">
                    <a:tint val="75000"/>
                  </a:schemeClr>
                </a:solidFill>
              </a:defRPr>
            </a:lvl3pPr>
            <a:lvl4pPr marL="2469856" indent="0">
              <a:buNone/>
              <a:defRPr sz="2880">
                <a:solidFill>
                  <a:schemeClr val="tx1">
                    <a:tint val="75000"/>
                  </a:schemeClr>
                </a:solidFill>
              </a:defRPr>
            </a:lvl4pPr>
            <a:lvl5pPr marL="3293142" indent="0">
              <a:buNone/>
              <a:defRPr sz="2880">
                <a:solidFill>
                  <a:schemeClr val="tx1">
                    <a:tint val="75000"/>
                  </a:schemeClr>
                </a:solidFill>
              </a:defRPr>
            </a:lvl5pPr>
            <a:lvl6pPr marL="4116427" indent="0">
              <a:buNone/>
              <a:defRPr sz="2880">
                <a:solidFill>
                  <a:schemeClr val="tx1">
                    <a:tint val="75000"/>
                  </a:schemeClr>
                </a:solidFill>
              </a:defRPr>
            </a:lvl6pPr>
            <a:lvl7pPr marL="4939713" indent="0">
              <a:buNone/>
              <a:defRPr sz="2880">
                <a:solidFill>
                  <a:schemeClr val="tx1">
                    <a:tint val="75000"/>
                  </a:schemeClr>
                </a:solidFill>
              </a:defRPr>
            </a:lvl7pPr>
            <a:lvl8pPr marL="5762993" indent="0">
              <a:buNone/>
              <a:defRPr sz="2880">
                <a:solidFill>
                  <a:schemeClr val="tx1">
                    <a:tint val="75000"/>
                  </a:schemeClr>
                </a:solidFill>
              </a:defRPr>
            </a:lvl8pPr>
            <a:lvl9pPr marL="6586284" indent="0">
              <a:buNone/>
              <a:defRPr sz="28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37466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66996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1752608"/>
            <a:ext cx="14196060" cy="63627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6" y="8069588"/>
            <a:ext cx="6963012"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4" name="Content Placeholder 3"/>
          <p:cNvSpPr>
            <a:spLocks noGrp="1"/>
          </p:cNvSpPr>
          <p:nvPr>
            <p:ph sz="half" idx="2"/>
          </p:nvPr>
        </p:nvSpPr>
        <p:spPr>
          <a:xfrm>
            <a:off x="1133716" y="12024360"/>
            <a:ext cx="6963012"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1" y="8069588"/>
            <a:ext cx="6997304"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6" name="Content Placeholder 5"/>
          <p:cNvSpPr>
            <a:spLocks noGrp="1"/>
          </p:cNvSpPr>
          <p:nvPr>
            <p:ph sz="quarter" idx="4"/>
          </p:nvPr>
        </p:nvSpPr>
        <p:spPr>
          <a:xfrm>
            <a:off x="8332471" y="12024360"/>
            <a:ext cx="6997304"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220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91747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748770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Content Placeholder 2"/>
          <p:cNvSpPr>
            <a:spLocks noGrp="1"/>
          </p:cNvSpPr>
          <p:nvPr>
            <p:ph idx="1"/>
          </p:nvPr>
        </p:nvSpPr>
        <p:spPr>
          <a:xfrm>
            <a:off x="6997304" y="4739649"/>
            <a:ext cx="8332470" cy="23393398"/>
          </a:xfrm>
        </p:spPr>
        <p:txBody>
          <a:bodyPr/>
          <a:lstStyle>
            <a:lvl1pPr>
              <a:defRPr sz="5761"/>
            </a:lvl1pPr>
            <a:lvl2pPr>
              <a:defRPr sz="5039"/>
            </a:lvl2pPr>
            <a:lvl3pPr>
              <a:defRPr sz="4323"/>
            </a:lvl3pPr>
            <a:lvl4pPr>
              <a:defRPr sz="3602"/>
            </a:lvl4pPr>
            <a:lvl5pPr>
              <a:defRPr sz="3602"/>
            </a:lvl5pPr>
            <a:lvl6pPr>
              <a:defRPr sz="3602"/>
            </a:lvl6pPr>
            <a:lvl7pPr>
              <a:defRPr sz="3602"/>
            </a:lvl7pPr>
            <a:lvl8pPr>
              <a:defRPr sz="3602"/>
            </a:lvl8pPr>
            <a:lvl9pPr>
              <a:defRPr sz="36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199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4739649"/>
            <a:ext cx="8332470" cy="23393398"/>
          </a:xfrm>
        </p:spPr>
        <p:txBody>
          <a:bodyPr anchor="t"/>
          <a:lstStyle>
            <a:lvl1pPr marL="0" indent="0">
              <a:buNone/>
              <a:defRPr sz="5761"/>
            </a:lvl1pPr>
            <a:lvl2pPr marL="823285" indent="0">
              <a:buNone/>
              <a:defRPr sz="5039"/>
            </a:lvl2pPr>
            <a:lvl3pPr marL="1646571" indent="0">
              <a:buNone/>
              <a:defRPr sz="4323"/>
            </a:lvl3pPr>
            <a:lvl4pPr marL="2469856" indent="0">
              <a:buNone/>
              <a:defRPr sz="3602"/>
            </a:lvl4pPr>
            <a:lvl5pPr marL="3293142" indent="0">
              <a:buNone/>
              <a:defRPr sz="3602"/>
            </a:lvl5pPr>
            <a:lvl6pPr marL="4116427" indent="0">
              <a:buNone/>
              <a:defRPr sz="3602"/>
            </a:lvl6pPr>
            <a:lvl7pPr marL="4939713" indent="0">
              <a:buNone/>
              <a:defRPr sz="3602"/>
            </a:lvl7pPr>
            <a:lvl8pPr marL="5762993" indent="0">
              <a:buNone/>
              <a:defRPr sz="3602"/>
            </a:lvl8pPr>
            <a:lvl9pPr marL="6586284" indent="0">
              <a:buNone/>
              <a:defRPr sz="3602"/>
            </a:lvl9pPr>
          </a:lstStyle>
          <a:p>
            <a:r>
              <a:rPr lang="en-US"/>
              <a:t>Click icon to add picture</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98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76497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6" y="1752621"/>
            <a:ext cx="3549015" cy="278968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6" y="1752621"/>
            <a:ext cx="10441305" cy="278968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38014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1752608"/>
            <a:ext cx="14196060" cy="63627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8763025"/>
            <a:ext cx="14196060" cy="20886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30510502"/>
            <a:ext cx="3703320" cy="1752598"/>
          </a:xfrm>
          <a:prstGeom prst="rect">
            <a:avLst/>
          </a:prstGeom>
        </p:spPr>
        <p:txBody>
          <a:bodyPr vert="horz" lIns="91440" tIns="45720" rIns="91440" bIns="45720" rtlCol="0" anchor="ctr"/>
          <a:lstStyle>
            <a:lvl1pPr algn="l">
              <a:defRPr sz="2159">
                <a:solidFill>
                  <a:schemeClr val="tx1">
                    <a:tint val="75000"/>
                  </a:schemeClr>
                </a:solidFill>
              </a:defRPr>
            </a:lvl1pPr>
          </a:lstStyle>
          <a:p>
            <a:fld id="{3E22DA87-17A3-43A0-B86E-2FCFB6EFBC32}" type="datetimeFigureOut">
              <a:rPr lang="en-IN" smtClean="0"/>
              <a:t>19-05-2026</a:t>
            </a:fld>
            <a:endParaRPr lang="en-IN"/>
          </a:p>
        </p:txBody>
      </p:sp>
      <p:sp>
        <p:nvSpPr>
          <p:cNvPr id="5" name="Footer Placeholder 4"/>
          <p:cNvSpPr>
            <a:spLocks noGrp="1"/>
          </p:cNvSpPr>
          <p:nvPr>
            <p:ph type="ftr" sz="quarter" idx="3"/>
          </p:nvPr>
        </p:nvSpPr>
        <p:spPr>
          <a:xfrm>
            <a:off x="5452110" y="30510502"/>
            <a:ext cx="5554980" cy="1752598"/>
          </a:xfrm>
          <a:prstGeom prst="rect">
            <a:avLst/>
          </a:prstGeom>
        </p:spPr>
        <p:txBody>
          <a:bodyPr vert="horz" lIns="91440" tIns="45720" rIns="91440" bIns="45720" rtlCol="0" anchor="ctr"/>
          <a:lstStyle>
            <a:lvl1pPr algn="ctr">
              <a:defRPr sz="215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1624310" y="30510502"/>
            <a:ext cx="3703320" cy="1752598"/>
          </a:xfrm>
          <a:prstGeom prst="rect">
            <a:avLst/>
          </a:prstGeom>
        </p:spPr>
        <p:txBody>
          <a:bodyPr vert="horz" lIns="91440" tIns="45720" rIns="91440" bIns="45720" rtlCol="0" anchor="ctr"/>
          <a:lstStyle>
            <a:lvl1pPr algn="r">
              <a:defRPr sz="2159">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35967978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46571"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645" indent="-411645" algn="l" defTabSz="1646571" rtl="0" eaLnBrk="1" latinLnBrk="0" hangingPunct="1">
        <a:lnSpc>
          <a:spcPct val="90000"/>
        </a:lnSpc>
        <a:spcBef>
          <a:spcPts val="1798"/>
        </a:spcBef>
        <a:buFont typeface="Arial" panose="020B0604020202020204" pitchFamily="34" charset="0"/>
        <a:buChar char="•"/>
        <a:defRPr sz="5039" kern="1200">
          <a:solidFill>
            <a:schemeClr val="tx1"/>
          </a:solidFill>
          <a:latin typeface="+mn-lt"/>
          <a:ea typeface="+mn-ea"/>
          <a:cs typeface="+mn-cs"/>
        </a:defRPr>
      </a:lvl1pPr>
      <a:lvl2pPr marL="1234930" indent="-411645" algn="l" defTabSz="1646571" rtl="0" eaLnBrk="1" latinLnBrk="0" hangingPunct="1">
        <a:lnSpc>
          <a:spcPct val="90000"/>
        </a:lnSpc>
        <a:spcBef>
          <a:spcPts val="899"/>
        </a:spcBef>
        <a:buFont typeface="Arial" panose="020B0604020202020204" pitchFamily="34" charset="0"/>
        <a:buChar char="•"/>
        <a:defRPr sz="4323" kern="1200">
          <a:solidFill>
            <a:schemeClr val="tx1"/>
          </a:solidFill>
          <a:latin typeface="+mn-lt"/>
          <a:ea typeface="+mn-ea"/>
          <a:cs typeface="+mn-cs"/>
        </a:defRPr>
      </a:lvl2pPr>
      <a:lvl3pPr marL="2058212" indent="-411645" algn="l" defTabSz="1646571" rtl="0" eaLnBrk="1" latinLnBrk="0" hangingPunct="1">
        <a:lnSpc>
          <a:spcPct val="90000"/>
        </a:lnSpc>
        <a:spcBef>
          <a:spcPts val="899"/>
        </a:spcBef>
        <a:buFont typeface="Arial" panose="020B0604020202020204" pitchFamily="34" charset="0"/>
        <a:buChar char="•"/>
        <a:defRPr sz="3602" kern="1200">
          <a:solidFill>
            <a:schemeClr val="tx1"/>
          </a:solidFill>
          <a:latin typeface="+mn-lt"/>
          <a:ea typeface="+mn-ea"/>
          <a:cs typeface="+mn-cs"/>
        </a:defRPr>
      </a:lvl3pPr>
      <a:lvl4pPr marL="2881502"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4pPr>
      <a:lvl5pPr marL="370478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5pPr>
      <a:lvl6pPr marL="452807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6pPr>
      <a:lvl7pPr marL="535135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7pPr>
      <a:lvl8pPr marL="617463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8pPr>
      <a:lvl9pPr marL="6997930"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9pPr>
    </p:bodyStyle>
    <p:otherStyle>
      <a:defPPr>
        <a:defRPr lang="en-US"/>
      </a:defPPr>
      <a:lvl1pPr marL="0" algn="l" defTabSz="1646571" rtl="0" eaLnBrk="1" latinLnBrk="0" hangingPunct="1">
        <a:defRPr sz="3241" kern="1200">
          <a:solidFill>
            <a:schemeClr val="tx1"/>
          </a:solidFill>
          <a:latin typeface="+mn-lt"/>
          <a:ea typeface="+mn-ea"/>
          <a:cs typeface="+mn-cs"/>
        </a:defRPr>
      </a:lvl1pPr>
      <a:lvl2pPr marL="823285" algn="l" defTabSz="1646571" rtl="0" eaLnBrk="1" latinLnBrk="0" hangingPunct="1">
        <a:defRPr sz="3241" kern="1200">
          <a:solidFill>
            <a:schemeClr val="tx1"/>
          </a:solidFill>
          <a:latin typeface="+mn-lt"/>
          <a:ea typeface="+mn-ea"/>
          <a:cs typeface="+mn-cs"/>
        </a:defRPr>
      </a:lvl2pPr>
      <a:lvl3pPr marL="1646571" algn="l" defTabSz="1646571" rtl="0" eaLnBrk="1" latinLnBrk="0" hangingPunct="1">
        <a:defRPr sz="3241" kern="1200">
          <a:solidFill>
            <a:schemeClr val="tx1"/>
          </a:solidFill>
          <a:latin typeface="+mn-lt"/>
          <a:ea typeface="+mn-ea"/>
          <a:cs typeface="+mn-cs"/>
        </a:defRPr>
      </a:lvl3pPr>
      <a:lvl4pPr marL="2469856" algn="l" defTabSz="1646571" rtl="0" eaLnBrk="1" latinLnBrk="0" hangingPunct="1">
        <a:defRPr sz="3241" kern="1200">
          <a:solidFill>
            <a:schemeClr val="tx1"/>
          </a:solidFill>
          <a:latin typeface="+mn-lt"/>
          <a:ea typeface="+mn-ea"/>
          <a:cs typeface="+mn-cs"/>
        </a:defRPr>
      </a:lvl4pPr>
      <a:lvl5pPr marL="3293142" algn="l" defTabSz="1646571" rtl="0" eaLnBrk="1" latinLnBrk="0" hangingPunct="1">
        <a:defRPr sz="3241" kern="1200">
          <a:solidFill>
            <a:schemeClr val="tx1"/>
          </a:solidFill>
          <a:latin typeface="+mn-lt"/>
          <a:ea typeface="+mn-ea"/>
          <a:cs typeface="+mn-cs"/>
        </a:defRPr>
      </a:lvl5pPr>
      <a:lvl6pPr marL="4116427" algn="l" defTabSz="1646571" rtl="0" eaLnBrk="1" latinLnBrk="0" hangingPunct="1">
        <a:defRPr sz="3241" kern="1200">
          <a:solidFill>
            <a:schemeClr val="tx1"/>
          </a:solidFill>
          <a:latin typeface="+mn-lt"/>
          <a:ea typeface="+mn-ea"/>
          <a:cs typeface="+mn-cs"/>
        </a:defRPr>
      </a:lvl6pPr>
      <a:lvl7pPr marL="4939713" algn="l" defTabSz="1646571" rtl="0" eaLnBrk="1" latinLnBrk="0" hangingPunct="1">
        <a:defRPr sz="3241" kern="1200">
          <a:solidFill>
            <a:schemeClr val="tx1"/>
          </a:solidFill>
          <a:latin typeface="+mn-lt"/>
          <a:ea typeface="+mn-ea"/>
          <a:cs typeface="+mn-cs"/>
        </a:defRPr>
      </a:lvl7pPr>
      <a:lvl8pPr marL="5762993" algn="l" defTabSz="1646571" rtl="0" eaLnBrk="1" latinLnBrk="0" hangingPunct="1">
        <a:defRPr sz="3241" kern="1200">
          <a:solidFill>
            <a:schemeClr val="tx1"/>
          </a:solidFill>
          <a:latin typeface="+mn-lt"/>
          <a:ea typeface="+mn-ea"/>
          <a:cs typeface="+mn-cs"/>
        </a:defRPr>
      </a:lvl8pPr>
      <a:lvl9pPr marL="6586284" algn="l" defTabSz="1646571" rtl="0" eaLnBrk="1" latinLnBrk="0" hangingPunct="1">
        <a:defRPr sz="3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F757CC-C832-3EB9-8642-C2DADE82A7D6}"/>
              </a:ext>
            </a:extLst>
          </p:cNvPr>
          <p:cNvSpPr/>
          <p:nvPr/>
        </p:nvSpPr>
        <p:spPr>
          <a:xfrm>
            <a:off x="-1" y="1"/>
            <a:ext cx="16459202" cy="269206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8"/>
          </a:p>
        </p:txBody>
      </p:sp>
      <p:pic>
        <p:nvPicPr>
          <p:cNvPr id="26" name="Picture 2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443" y="213958"/>
            <a:ext cx="15952717" cy="2290531"/>
          </a:xfrm>
          <a:prstGeom prst="rect">
            <a:avLst/>
          </a:prstGeom>
        </p:spPr>
      </p:pic>
      <p:sp>
        <p:nvSpPr>
          <p:cNvPr id="4" name="Rectangle 3">
            <a:extLst>
              <a:ext uri="{FF2B5EF4-FFF2-40B4-BE49-F238E27FC236}">
                <a16:creationId xmlns:a16="http://schemas.microsoft.com/office/drawing/2014/main" id="{55F827C5-EB36-36D8-57E4-E142A1A8C67D}"/>
              </a:ext>
            </a:extLst>
          </p:cNvPr>
          <p:cNvSpPr/>
          <p:nvPr/>
        </p:nvSpPr>
        <p:spPr>
          <a:xfrm>
            <a:off x="-5" y="4015190"/>
            <a:ext cx="16459203" cy="6105563"/>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just" defTabSz="914400" rtl="0" eaLnBrk="0" fontAlgn="base" latinLnBrk="0" hangingPunct="0">
              <a:lnSpc>
                <a:spcPct val="150000"/>
              </a:lnSpc>
              <a:spcBef>
                <a:spcPct val="0"/>
              </a:spcBef>
              <a:spcAft>
                <a:spcPct val="0"/>
              </a:spcAft>
              <a:buClrTx/>
              <a:buSzTx/>
              <a:tabLst/>
            </a:pPr>
            <a:endParaRPr lang="en-US" sz="240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lang="en-IN"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BEE37FD5-5EF1-EDB2-8DF3-A5AA932536BE}"/>
              </a:ext>
            </a:extLst>
          </p:cNvPr>
          <p:cNvSpPr/>
          <p:nvPr/>
        </p:nvSpPr>
        <p:spPr>
          <a:xfrm>
            <a:off x="-2" y="10118010"/>
            <a:ext cx="16459203" cy="5824474"/>
          </a:xfrm>
          <a:prstGeom prst="rect">
            <a:avLst/>
          </a:prstGeom>
          <a:solidFill>
            <a:srgbClr val="BFE7FF"/>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A021296-65E9-56EE-2F9B-01E9D7D98AE3}"/>
              </a:ext>
            </a:extLst>
          </p:cNvPr>
          <p:cNvSpPr/>
          <p:nvPr/>
        </p:nvSpPr>
        <p:spPr>
          <a:xfrm>
            <a:off x="-2" y="15942477"/>
            <a:ext cx="16459203" cy="623701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 name="Rectangle 6">
            <a:extLst>
              <a:ext uri="{FF2B5EF4-FFF2-40B4-BE49-F238E27FC236}">
                <a16:creationId xmlns:a16="http://schemas.microsoft.com/office/drawing/2014/main" id="{8CC73F69-4CF5-AB24-E8A8-73DEEF223A8F}"/>
              </a:ext>
            </a:extLst>
          </p:cNvPr>
          <p:cNvSpPr/>
          <p:nvPr/>
        </p:nvSpPr>
        <p:spPr>
          <a:xfrm>
            <a:off x="-2" y="22179494"/>
            <a:ext cx="16459203" cy="537847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8" name="Rectangle 7">
            <a:extLst>
              <a:ext uri="{FF2B5EF4-FFF2-40B4-BE49-F238E27FC236}">
                <a16:creationId xmlns:a16="http://schemas.microsoft.com/office/drawing/2014/main" id="{6BB6150E-B6D9-0477-CF16-6A98BF9C825F}"/>
              </a:ext>
            </a:extLst>
          </p:cNvPr>
          <p:cNvSpPr/>
          <p:nvPr/>
        </p:nvSpPr>
        <p:spPr>
          <a:xfrm>
            <a:off x="-2" y="27557964"/>
            <a:ext cx="16459203" cy="5360434"/>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19" name="Rectangle 18"/>
          <p:cNvSpPr/>
          <p:nvPr/>
        </p:nvSpPr>
        <p:spPr>
          <a:xfrm>
            <a:off x="187036" y="4031154"/>
            <a:ext cx="3261014" cy="47413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INTRODUCTION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BA700850-254E-CEFB-BC41-4AE4951B636A}"/>
              </a:ext>
            </a:extLst>
          </p:cNvPr>
          <p:cNvSpPr/>
          <p:nvPr/>
        </p:nvSpPr>
        <p:spPr>
          <a:xfrm>
            <a:off x="-2" y="2698062"/>
            <a:ext cx="16459203" cy="1325224"/>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22" name="Rectangle 21"/>
          <p:cNvSpPr/>
          <p:nvPr/>
        </p:nvSpPr>
        <p:spPr>
          <a:xfrm>
            <a:off x="187042" y="16153404"/>
            <a:ext cx="1879890"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RESULTS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227376" y="22356256"/>
            <a:ext cx="59089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DISCUSSION AND CONCLUSION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7042" y="27750473"/>
            <a:ext cx="302288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BIBLIOGRAPHY</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7EBDFB-488C-7F01-6765-9DA15C34FC9B}"/>
              </a:ext>
            </a:extLst>
          </p:cNvPr>
          <p:cNvSpPr txBox="1"/>
          <p:nvPr/>
        </p:nvSpPr>
        <p:spPr>
          <a:xfrm>
            <a:off x="216118" y="2975459"/>
            <a:ext cx="15505042" cy="707886"/>
          </a:xfrm>
          <a:prstGeom prst="rect">
            <a:avLst/>
          </a:prstGeom>
          <a:noFill/>
        </p:spPr>
        <p:txBody>
          <a:bodyPr wrap="square" rtlCol="0">
            <a:spAutoFit/>
          </a:bodyPr>
          <a:lstStyle/>
          <a:p>
            <a:pPr algn="ctr" eaLnBrk="1" hangingPunct="1">
              <a:lnSpc>
                <a:spcPct val="100000"/>
              </a:lnSpc>
              <a:spcBef>
                <a:spcPts val="113"/>
              </a:spcBef>
              <a:buSzTx/>
              <a:buFontTx/>
              <a:buNone/>
            </a:pPr>
            <a:r>
              <a:rPr lang="en-US" altLang="en-US" sz="4000" b="1" noProof="1">
                <a:solidFill>
                  <a:srgbClr val="0D0D0D"/>
                </a:solidFill>
                <a:latin typeface="Times New Roman" panose="02020603050405020304" pitchFamily="18" charset="0"/>
                <a:cs typeface="Times New Roman" panose="02020603050405020304" pitchFamily="18" charset="0"/>
              </a:rPr>
              <a:t>Smart Cooker Whistle Counter With Auto Shut-Off</a:t>
            </a:r>
            <a:endParaRPr lang="en-IN" altLang="en-US" sz="4000" b="1" noProof="1">
              <a:latin typeface="Times New Roman" panose="02020603050405020304" pitchFamily="18" charset="0"/>
              <a:cs typeface="Times New Roman" panose="02020603050405020304" pitchFamily="18" charset="0"/>
            </a:endParaRPr>
          </a:p>
        </p:txBody>
      </p:sp>
      <p:sp>
        <p:nvSpPr>
          <p:cNvPr id="20" name="Rectangle 19"/>
          <p:cNvSpPr/>
          <p:nvPr/>
        </p:nvSpPr>
        <p:spPr>
          <a:xfrm>
            <a:off x="187047" y="10269290"/>
            <a:ext cx="51850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MATERIALS AND METHODS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A362008D-D9AE-CC4A-00C7-D2C269A08BF0}"/>
              </a:ext>
            </a:extLst>
          </p:cNvPr>
          <p:cNvSpPr txBox="1"/>
          <p:nvPr/>
        </p:nvSpPr>
        <p:spPr>
          <a:xfrm>
            <a:off x="238606" y="17425771"/>
            <a:ext cx="9249450" cy="400238"/>
          </a:xfrm>
          <a:prstGeom prst="rect">
            <a:avLst/>
          </a:prstGeom>
          <a:noFill/>
        </p:spPr>
        <p:txBody>
          <a:bodyPr wrap="square" rtlCol="0">
            <a:spAutoFit/>
          </a:bodyPr>
          <a:lstStyle/>
          <a:p>
            <a:pPr marL="343043" indent="-343043">
              <a:buFont typeface="Wingdings" panose="05000000000000000000" pitchFamily="2" charset="2"/>
              <a:buChar char="Ø"/>
            </a:pPr>
            <a:endParaRPr lang="en-IN" sz="2001" b="1" dirty="0">
              <a:latin typeface="Times New Roman" panose="02020603050405020304" pitchFamily="18" charset="0"/>
              <a:cs typeface="Times New Roman" panose="02020603050405020304" pitchFamily="18" charset="0"/>
            </a:endParaRPr>
          </a:p>
        </p:txBody>
      </p:sp>
      <p:sp>
        <p:nvSpPr>
          <p:cNvPr id="34" name="Rectangle 14">
            <a:extLst>
              <a:ext uri="{FF2B5EF4-FFF2-40B4-BE49-F238E27FC236}">
                <a16:creationId xmlns:a16="http://schemas.microsoft.com/office/drawing/2014/main" id="{D221B73F-1B1D-EFE4-3BD8-921F974D4B0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80901AC9-015E-BF98-DBCF-DAE50CC56937}"/>
              </a:ext>
            </a:extLst>
          </p:cNvPr>
          <p:cNvSpPr txBox="1"/>
          <p:nvPr/>
        </p:nvSpPr>
        <p:spPr>
          <a:xfrm>
            <a:off x="9643463" y="1470940"/>
            <a:ext cx="6420886" cy="1246495"/>
          </a:xfrm>
          <a:prstGeom prst="rect">
            <a:avLst/>
          </a:prstGeom>
          <a:noFill/>
        </p:spPr>
        <p:txBody>
          <a:bodyPr wrap="square" rtlCol="0">
            <a:spAutoFit/>
          </a:bodyPr>
          <a:lstStyle/>
          <a:p>
            <a:pPr algn="r"/>
            <a:r>
              <a:rPr lang="en-US" sz="2500" b="1" dirty="0">
                <a:solidFill>
                  <a:schemeClr val="bg1"/>
                </a:solidFill>
                <a:latin typeface="Arial" panose="020B0604020202020204" pitchFamily="34" charset="0"/>
                <a:cs typeface="Arial" panose="020B0604020202020204" pitchFamily="34" charset="0"/>
              </a:rPr>
              <a:t>Students Name: </a:t>
            </a:r>
            <a:r>
              <a:rPr lang="en-IN" sz="2500" b="1" dirty="0">
                <a:solidFill>
                  <a:schemeClr val="bg1"/>
                </a:solidFill>
                <a:latin typeface="Arial" panose="020B0604020202020204" pitchFamily="34" charset="0"/>
                <a:cs typeface="Arial" panose="020B0604020202020204" pitchFamily="34" charset="0"/>
              </a:rPr>
              <a:t>T. MANI SAI LOKESH</a:t>
            </a:r>
          </a:p>
          <a:p>
            <a:pPr algn="r"/>
            <a:r>
              <a:rPr lang="en-US" sz="2500" b="1" dirty="0">
                <a:solidFill>
                  <a:schemeClr val="bg1"/>
                </a:solidFill>
                <a:latin typeface="Arial" panose="020B0604020202020204" pitchFamily="34" charset="0"/>
                <a:cs typeface="Arial" panose="020B0604020202020204" pitchFamily="34" charset="0"/>
              </a:rPr>
              <a:t>Project Guide: Dr. Arjun Pandian </a:t>
            </a:r>
          </a:p>
          <a:p>
            <a:pPr algn="r"/>
            <a:r>
              <a:rPr lang="en-US" sz="2500" b="1" dirty="0">
                <a:solidFill>
                  <a:schemeClr val="bg1"/>
                </a:solidFill>
                <a:latin typeface="Arial" panose="020B0604020202020204" pitchFamily="34" charset="0"/>
                <a:cs typeface="Arial" panose="020B0604020202020204" pitchFamily="34" charset="0"/>
              </a:rPr>
              <a:t>Register No: </a:t>
            </a:r>
            <a:r>
              <a:rPr lang="en-US" sz="2500" b="1" i="0" dirty="0">
                <a:solidFill>
                  <a:schemeClr val="bg1"/>
                </a:solidFill>
                <a:effectLst/>
                <a:latin typeface="Arial" panose="020B0604020202020204" pitchFamily="34" charset="0"/>
                <a:cs typeface="Arial" panose="020B0604020202020204" pitchFamily="34" charset="0"/>
              </a:rPr>
              <a:t>192224105</a:t>
            </a:r>
            <a:endParaRPr lang="en-US" sz="2500" b="1"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71DBECD-4FAF-605F-FF14-C1A01FB95F92}"/>
              </a:ext>
            </a:extLst>
          </p:cNvPr>
          <p:cNvSpPr txBox="1"/>
          <p:nvPr/>
        </p:nvSpPr>
        <p:spPr>
          <a:xfrm>
            <a:off x="150459" y="4466743"/>
            <a:ext cx="10313452" cy="5786199"/>
          </a:xfrm>
          <a:prstGeom prst="rect">
            <a:avLst/>
          </a:prstGeom>
          <a:noFill/>
        </p:spPr>
        <p:txBody>
          <a:bodyPr wrap="square" rtlCol="0">
            <a:spAutoFit/>
          </a:bodyPr>
          <a:lstStyle/>
          <a:p>
            <a:pPr marL="342900" indent="-342900" algn="just">
              <a:spcBef>
                <a:spcPts val="600"/>
              </a:spcBef>
              <a:spcAft>
                <a:spcPts val="600"/>
              </a:spcAft>
              <a:buSzPct val="100000"/>
              <a:buFont typeface="Wingdings" panose="05000000000000000000" pitchFamily="2" charset="2"/>
              <a:buChar char="Ø"/>
            </a:pPr>
            <a:r>
              <a:rPr lang="en-US" altLang="en-US" sz="2000" b="1" noProof="1">
                <a:solidFill>
                  <a:schemeClr val="tx1"/>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Smart Cooker Whistle Counter with Automatic Switch-Off is an innovative kitchen device designed to make pressure cooking easier and safer.</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It automatically detects and counts cooker whistles using smart sensors and technology.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system switches off the heat source automatically after reaching the preset whistle count, preventing overcooking and food wastage.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It provides audio and visual alerts through a buzzer and LCD display.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device is useful for homes, hostels, restaurants, and smart kitchen environments. This device saves time, reduces energy consumption, and eliminates the need for continuous monitoring during cooking.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It is especially useful for busy individuals and modern households seeking convenience, safety, and accurate cooking results.</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Future versions can include IoT connectivity, mobile app support, and voice assistant integration for smart home compatibility.</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Even during a power cut, the LCD runs on battery backup, allowing the process to continue automatically when power returns.</a:t>
            </a:r>
          </a:p>
        </p:txBody>
      </p:sp>
      <p:sp>
        <p:nvSpPr>
          <p:cNvPr id="12" name="TextBox 11">
            <a:extLst>
              <a:ext uri="{FF2B5EF4-FFF2-40B4-BE49-F238E27FC236}">
                <a16:creationId xmlns:a16="http://schemas.microsoft.com/office/drawing/2014/main" id="{5B1DD000-68B8-745A-C2E1-636C46DEBAB4}"/>
              </a:ext>
            </a:extLst>
          </p:cNvPr>
          <p:cNvSpPr txBox="1"/>
          <p:nvPr/>
        </p:nvSpPr>
        <p:spPr>
          <a:xfrm>
            <a:off x="10523094" y="8856901"/>
            <a:ext cx="5448925" cy="830997"/>
          </a:xfrm>
          <a:prstGeom prst="rect">
            <a:avLst/>
          </a:prstGeom>
          <a:noFill/>
        </p:spPr>
        <p:txBody>
          <a:bodyPr wrap="square" rtlCol="0">
            <a:spAutoFit/>
          </a:bodyPr>
          <a:lstStyle/>
          <a:p>
            <a:pPr algn="ctr"/>
            <a:r>
              <a:rPr lang="en-US" altLang="en-IN" sz="2400" b="1" dirty="0">
                <a:latin typeface="Times New Roman" panose="02020603050405020304" pitchFamily="18" charset="0"/>
              </a:rPr>
              <a:t>Fig 1: Circuit Diagram of </a:t>
            </a:r>
            <a:r>
              <a:rPr lang="en-US" altLang="en-US" sz="2400" b="1" noProof="1">
                <a:solidFill>
                  <a:srgbClr val="0D0D0D"/>
                </a:solidFill>
                <a:latin typeface="Times New Roman" panose="02020603050405020304" pitchFamily="18" charset="0"/>
                <a:cs typeface="Times New Roman" panose="02020603050405020304" pitchFamily="18" charset="0"/>
              </a:rPr>
              <a:t>Smart Cooker Whistle Counter With Auto Shut-Off</a:t>
            </a:r>
            <a:r>
              <a:rPr lang="en-US" altLang="en-IN" sz="2400" b="1" dirty="0">
                <a:latin typeface="Times New Roman" panose="02020603050405020304" pitchFamily="18" charset="0"/>
              </a:rPr>
              <a:t> </a:t>
            </a:r>
          </a:p>
        </p:txBody>
      </p:sp>
      <p:sp>
        <p:nvSpPr>
          <p:cNvPr id="140" name="TextBox 139">
            <a:extLst>
              <a:ext uri="{FF2B5EF4-FFF2-40B4-BE49-F238E27FC236}">
                <a16:creationId xmlns:a16="http://schemas.microsoft.com/office/drawing/2014/main" id="{8C3D2B7D-DEBA-1510-A6BB-028E2A0E97B3}"/>
              </a:ext>
            </a:extLst>
          </p:cNvPr>
          <p:cNvSpPr txBox="1"/>
          <p:nvPr/>
        </p:nvSpPr>
        <p:spPr>
          <a:xfrm>
            <a:off x="214952" y="22988814"/>
            <a:ext cx="11134366" cy="4524315"/>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Smart Cooker Whistle Counter with Auto Shut-Off successfully improved kitchen safety and cooking efficiency by automatically detecting cooker whistles and switching off the stove after the preset whistle count.</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Features such as automatic whistle counting, LCD display monitoring, buzzer alerts, and auto shut-off functionality enhanced user convenience and reduced the need for continuous cooking supervision.</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integration of Arduino, microphone sensor, relay module, and buzzer system provided accurate whistle detection and reliable stove control, resulting in safer and more consistent cooking compared to traditional manual methods.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compact design, low-cost implementation, and user-friendly operation make the system a practical and effective solution for households, students, working professionals, elderly users, and smart kitchen applications.</a:t>
            </a:r>
          </a:p>
        </p:txBody>
      </p:sp>
      <p:sp>
        <p:nvSpPr>
          <p:cNvPr id="142" name="TextBox 141">
            <a:extLst>
              <a:ext uri="{FF2B5EF4-FFF2-40B4-BE49-F238E27FC236}">
                <a16:creationId xmlns:a16="http://schemas.microsoft.com/office/drawing/2014/main" id="{7CEC5C6D-1AEA-D591-F539-847611A9E9A6}"/>
              </a:ext>
            </a:extLst>
          </p:cNvPr>
          <p:cNvSpPr txBox="1"/>
          <p:nvPr/>
        </p:nvSpPr>
        <p:spPr>
          <a:xfrm>
            <a:off x="312346" y="28531337"/>
            <a:ext cx="15825743" cy="3916457"/>
          </a:xfrm>
          <a:prstGeom prst="rect">
            <a:avLst/>
          </a:prstGeom>
          <a:noFill/>
        </p:spPr>
        <p:txBody>
          <a:bodyPr wrap="square" rtlCol="0">
            <a:spAutoFit/>
          </a:bodyPr>
          <a:lstStyle/>
          <a:p>
            <a:pPr marL="342900" indent="-342900" fontAlgn="base">
              <a:spcAft>
                <a:spcPts val="1285"/>
              </a:spcAf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JK Adarsh, R. Kishore, and Arul Rajagopalan, “Pressure Cooker Whistle Notification Using Arduino Based Wireless Sensor Networks,” </a:t>
            </a:r>
            <a:r>
              <a:rPr lang="en-IN" sz="2400" b="1" i="1" dirty="0">
                <a:latin typeface="Times New Roman" panose="02020603050405020304" pitchFamily="18" charset="0"/>
                <a:cs typeface="Times New Roman" panose="02020603050405020304" pitchFamily="18" charset="0"/>
              </a:rPr>
              <a:t>Journal of Physics: Conference Series</a:t>
            </a:r>
            <a:r>
              <a:rPr lang="en-IN" sz="2400" b="1" dirty="0">
                <a:latin typeface="Times New Roman" panose="02020603050405020304" pitchFamily="18" charset="0"/>
                <a:cs typeface="Times New Roman" panose="02020603050405020304" pitchFamily="18" charset="0"/>
              </a:rPr>
              <a:t>, vol. 1969, no. 1, 2021. </a:t>
            </a:r>
          </a:p>
          <a:p>
            <a:pPr marL="342900" indent="-342900" fontAlgn="base">
              <a:spcAft>
                <a:spcPts val="1285"/>
              </a:spcAf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Jeyanathan, Josephine Selle, et al. "An IoT-Enabled Whistle Counter System for Automated Monitoring and Control in the Cookers." </a:t>
            </a:r>
            <a:r>
              <a:rPr lang="en-US" sz="2400" b="1" i="1" dirty="0">
                <a:latin typeface="Times New Roman" panose="02020603050405020304" pitchFamily="18" charset="0"/>
                <a:cs typeface="Times New Roman" panose="02020603050405020304" pitchFamily="18" charset="0"/>
              </a:rPr>
              <a:t>2025 5th International Conference on Trends in Material Science and Inventive Materials (ICTMIM)</a:t>
            </a:r>
            <a:r>
              <a:rPr lang="en-US" sz="2400" b="1" dirty="0">
                <a:latin typeface="Times New Roman" panose="02020603050405020304" pitchFamily="18" charset="0"/>
                <a:cs typeface="Times New Roman" panose="02020603050405020304" pitchFamily="18" charset="0"/>
              </a:rPr>
              <a:t>. IEEE, 2025.</a:t>
            </a:r>
          </a:p>
          <a:p>
            <a:pPr marL="342900" indent="-342900" fontAlgn="base">
              <a:spcAft>
                <a:spcPts val="1285"/>
              </a:spcAf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Alekhya, </a:t>
            </a:r>
            <a:r>
              <a:rPr lang="en-US" sz="2400" b="1" dirty="0" err="1">
                <a:latin typeface="Times New Roman" panose="02020603050405020304" pitchFamily="18" charset="0"/>
                <a:cs typeface="Times New Roman" panose="02020603050405020304" pitchFamily="18" charset="0"/>
              </a:rPr>
              <a:t>Samatham</a:t>
            </a:r>
            <a:r>
              <a:rPr lang="en-US" sz="2400" b="1" dirty="0">
                <a:latin typeface="Times New Roman" panose="02020603050405020304" pitchFamily="18" charset="0"/>
                <a:cs typeface="Times New Roman" panose="02020603050405020304" pitchFamily="18" charset="0"/>
              </a:rPr>
              <a:t>, et al. "Real-Time Pressure Cooker Whistle Detection and Alert System." </a:t>
            </a:r>
            <a:r>
              <a:rPr lang="en-US" sz="2400" b="1" i="1" dirty="0">
                <a:latin typeface="Times New Roman" panose="02020603050405020304" pitchFamily="18" charset="0"/>
                <a:cs typeface="Times New Roman" panose="02020603050405020304" pitchFamily="18" charset="0"/>
              </a:rPr>
              <a:t>2025 5th International Conference on Soft Computing for Security Applications (ICSCSA)</a:t>
            </a:r>
            <a:r>
              <a:rPr lang="en-US" sz="2400" b="1" dirty="0">
                <a:latin typeface="Times New Roman" panose="02020603050405020304" pitchFamily="18" charset="0"/>
                <a:cs typeface="Times New Roman" panose="02020603050405020304" pitchFamily="18" charset="0"/>
              </a:rPr>
              <a:t>. IEEE, 2025.</a:t>
            </a:r>
          </a:p>
          <a:p>
            <a:pPr marL="342900" indent="-342900" fontAlgn="base">
              <a:spcAft>
                <a:spcPts val="1285"/>
              </a:spcAf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Adarsh, J. K., R. Kishore, and R. Arul. "Pressure cooker whistle notification using </a:t>
            </a:r>
            <a:r>
              <a:rPr lang="en-US" sz="2400" b="1" dirty="0" err="1">
                <a:latin typeface="Times New Roman" panose="02020603050405020304" pitchFamily="18" charset="0"/>
                <a:cs typeface="Times New Roman" panose="02020603050405020304" pitchFamily="18" charset="0"/>
              </a:rPr>
              <a:t>arduino</a:t>
            </a:r>
            <a:r>
              <a:rPr lang="en-US" sz="2400" b="1" dirty="0">
                <a:latin typeface="Times New Roman" panose="02020603050405020304" pitchFamily="18" charset="0"/>
                <a:cs typeface="Times New Roman" panose="02020603050405020304" pitchFamily="18" charset="0"/>
              </a:rPr>
              <a:t> based wireless sensor networks." </a:t>
            </a:r>
            <a:r>
              <a:rPr lang="en-US" sz="2400" b="1" i="1" dirty="0">
                <a:latin typeface="Times New Roman" panose="02020603050405020304" pitchFamily="18" charset="0"/>
                <a:cs typeface="Times New Roman" panose="02020603050405020304" pitchFamily="18" charset="0"/>
              </a:rPr>
              <a:t>Journal of Physics: Conference Series</a:t>
            </a:r>
            <a:r>
              <a:rPr lang="en-US" sz="2400" b="1" dirty="0">
                <a:latin typeface="Times New Roman" panose="02020603050405020304" pitchFamily="18" charset="0"/>
                <a:cs typeface="Times New Roman" panose="02020603050405020304" pitchFamily="18" charset="0"/>
              </a:rPr>
              <a:t>. Vol. 1969. No. 1. IOP Publishing, 2021.</a:t>
            </a:r>
          </a:p>
        </p:txBody>
      </p:sp>
      <p:sp>
        <p:nvSpPr>
          <p:cNvPr id="27" name="TextBox 26">
            <a:extLst>
              <a:ext uri="{FF2B5EF4-FFF2-40B4-BE49-F238E27FC236}">
                <a16:creationId xmlns:a16="http://schemas.microsoft.com/office/drawing/2014/main" id="{BE176362-9315-9C06-4185-50BC82E6AE5F}"/>
              </a:ext>
            </a:extLst>
          </p:cNvPr>
          <p:cNvSpPr txBox="1"/>
          <p:nvPr/>
        </p:nvSpPr>
        <p:spPr>
          <a:xfrm>
            <a:off x="10838503" y="21020969"/>
            <a:ext cx="5528080"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Fig.2:Comparison Between Manual off and Auto Shut off</a:t>
            </a:r>
            <a:endParaRPr lang="en-IN" altLang="x-none" sz="2400" b="1" noProof="1">
              <a:solidFill>
                <a:srgbClr val="000000"/>
              </a:solidFill>
              <a:latin typeface="Times New Roman" panose="02020603050405020304" pitchFamily="18" charset="0"/>
              <a:ea typeface="Microsoft YaHei" panose="020B0503020204020204" charset="-122"/>
              <a:cs typeface="Times New Roman" panose="02020603050405020304" pitchFamily="18" charset="0"/>
            </a:endParaRPr>
          </a:p>
        </p:txBody>
      </p:sp>
      <p:sp>
        <p:nvSpPr>
          <p:cNvPr id="59" name="Rectangle 7">
            <a:extLst>
              <a:ext uri="{FF2B5EF4-FFF2-40B4-BE49-F238E27FC236}">
                <a16:creationId xmlns:a16="http://schemas.microsoft.com/office/drawing/2014/main" id="{E0DE6722-C65E-A4AB-22AD-0D8AA7874037}"/>
              </a:ext>
            </a:extLst>
          </p:cNvPr>
          <p:cNvSpPr>
            <a:spLocks noChangeArrowheads="1"/>
          </p:cNvSpPr>
          <p:nvPr/>
        </p:nvSpPr>
        <p:spPr bwMode="auto">
          <a:xfrm>
            <a:off x="4801346" y="15358207"/>
            <a:ext cx="1645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43536D23-DF14-AFA7-07A5-D2F44DE0AF0C}"/>
              </a:ext>
            </a:extLst>
          </p:cNvPr>
          <p:cNvPicPr>
            <a:picLocks noChangeAspect="1"/>
          </p:cNvPicPr>
          <p:nvPr/>
        </p:nvPicPr>
        <p:blipFill>
          <a:blip r:embed="rId3"/>
          <a:stretch>
            <a:fillRect/>
          </a:stretch>
        </p:blipFill>
        <p:spPr>
          <a:xfrm>
            <a:off x="10463913" y="4684939"/>
            <a:ext cx="5925860" cy="4014024"/>
          </a:xfrm>
          <a:prstGeom prst="rect">
            <a:avLst/>
          </a:prstGeom>
        </p:spPr>
      </p:pic>
      <p:pic>
        <p:nvPicPr>
          <p:cNvPr id="30" name="Picture 29">
            <a:extLst>
              <a:ext uri="{FF2B5EF4-FFF2-40B4-BE49-F238E27FC236}">
                <a16:creationId xmlns:a16="http://schemas.microsoft.com/office/drawing/2014/main" id="{0A6CB5BD-91AA-3C84-7E74-E3E83226A05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1377235" y="22849905"/>
            <a:ext cx="4867013" cy="3855952"/>
          </a:xfrm>
          <a:prstGeom prst="rect">
            <a:avLst/>
          </a:prstGeom>
        </p:spPr>
      </p:pic>
      <p:sp>
        <p:nvSpPr>
          <p:cNvPr id="31" name="TextBox 30">
            <a:extLst>
              <a:ext uri="{FF2B5EF4-FFF2-40B4-BE49-F238E27FC236}">
                <a16:creationId xmlns:a16="http://schemas.microsoft.com/office/drawing/2014/main" id="{3414AC50-6937-3F2F-EC7D-3BE92F932553}"/>
              </a:ext>
            </a:extLst>
          </p:cNvPr>
          <p:cNvSpPr txBox="1"/>
          <p:nvPr/>
        </p:nvSpPr>
        <p:spPr>
          <a:xfrm>
            <a:off x="11748453" y="26705859"/>
            <a:ext cx="4547191" cy="646331"/>
          </a:xfrm>
          <a:prstGeom prst="rect">
            <a:avLst/>
          </a:prstGeom>
          <a:noFill/>
        </p:spPr>
        <p:txBody>
          <a:bodyPr wrap="square" rtlCol="0">
            <a:spAutoFit/>
          </a:bodyPr>
          <a:lstStyle/>
          <a:p>
            <a:pPr algn="ctr"/>
            <a:r>
              <a:rPr lang="en-US" altLang="en-IN" b="1" dirty="0">
                <a:latin typeface="Times New Roman" panose="02020603050405020304" pitchFamily="18" charset="0"/>
              </a:rPr>
              <a:t>Fig 3: </a:t>
            </a:r>
            <a:r>
              <a:rPr lang="en-US" altLang="en-US" b="1" noProof="1">
                <a:solidFill>
                  <a:srgbClr val="0D0D0D"/>
                </a:solidFill>
                <a:latin typeface="Times New Roman" panose="02020603050405020304" pitchFamily="18" charset="0"/>
                <a:cs typeface="Times New Roman" panose="02020603050405020304" pitchFamily="18" charset="0"/>
              </a:rPr>
              <a:t>Smart Cooker Whistle Counter With Auto Shut-Off</a:t>
            </a:r>
            <a:r>
              <a:rPr lang="en-US" altLang="en-IN" b="1" dirty="0">
                <a:latin typeface="Times New Roman" panose="02020603050405020304" pitchFamily="18" charset="0"/>
              </a:rPr>
              <a:t> </a:t>
            </a:r>
          </a:p>
        </p:txBody>
      </p:sp>
      <p:sp>
        <p:nvSpPr>
          <p:cNvPr id="25" name="TextBox 24">
            <a:extLst>
              <a:ext uri="{FF2B5EF4-FFF2-40B4-BE49-F238E27FC236}">
                <a16:creationId xmlns:a16="http://schemas.microsoft.com/office/drawing/2014/main" id="{AF370EB3-896F-D198-4203-D4770D75D9CC}"/>
              </a:ext>
            </a:extLst>
          </p:cNvPr>
          <p:cNvSpPr txBox="1"/>
          <p:nvPr/>
        </p:nvSpPr>
        <p:spPr>
          <a:xfrm>
            <a:off x="157240" y="10945909"/>
            <a:ext cx="16301960" cy="4893647"/>
          </a:xfrm>
          <a:prstGeom prst="rect">
            <a:avLst/>
          </a:prstGeom>
          <a:noFill/>
        </p:spPr>
        <p:txBody>
          <a:bodyPr wrap="square" rtlCol="0">
            <a:spAutoFit/>
          </a:bodyPr>
          <a:lstStyle/>
          <a:p>
            <a:pPr marL="342900" indent="-342900" fontAlgn="base">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Arduino Board: </a:t>
            </a:r>
            <a:r>
              <a:rPr lang="en-US" sz="2400" dirty="0">
                <a:latin typeface="Times New Roman" panose="02020603050405020304" pitchFamily="18" charset="0"/>
                <a:cs typeface="Times New Roman" panose="02020603050405020304" pitchFamily="18" charset="0"/>
              </a:rPr>
              <a:t>Acts as the main microcontroller to process whistle detection signals and control the entire system operation.</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Microphone Sensor: </a:t>
            </a:r>
            <a:r>
              <a:rPr lang="en-US" sz="2400" dirty="0">
                <a:latin typeface="Times New Roman" panose="02020603050405020304" pitchFamily="18" charset="0"/>
                <a:cs typeface="Times New Roman" panose="02020603050405020304" pitchFamily="18" charset="0"/>
              </a:rPr>
              <a:t>Detects the sound of pressure cooker whistles and sends signals to the Arduino for whistle counting.</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Relay Module: </a:t>
            </a:r>
            <a:r>
              <a:rPr lang="en-US" sz="2400" dirty="0">
                <a:latin typeface="Times New Roman" panose="02020603050405020304" pitchFamily="18" charset="0"/>
                <a:cs typeface="Times New Roman" panose="02020603050405020304" pitchFamily="18" charset="0"/>
              </a:rPr>
              <a:t>Used to automatically switch off the stove or connected electrical supply after reaching the preset whistle count.</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LCD Display: </a:t>
            </a:r>
            <a:r>
              <a:rPr lang="en-US" sz="2400" dirty="0">
                <a:latin typeface="Times New Roman" panose="02020603050405020304" pitchFamily="18" charset="0"/>
                <a:cs typeface="Times New Roman" panose="02020603050405020304" pitchFamily="18" charset="0"/>
              </a:rPr>
              <a:t>Displays the whistle count, system status, and user settings in real time for easy monitoring.</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Buzzer System: </a:t>
            </a:r>
            <a:r>
              <a:rPr lang="en-US" sz="2400" dirty="0">
                <a:latin typeface="Times New Roman" panose="02020603050405020304" pitchFamily="18" charset="0"/>
                <a:cs typeface="Times New Roman" panose="02020603050405020304" pitchFamily="18" charset="0"/>
              </a:rPr>
              <a:t>Provides audio alerts when the required whistle count is reached or when the cooking process is completed.</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Push Button Controls: </a:t>
            </a:r>
            <a:r>
              <a:rPr lang="en-US" sz="2400" dirty="0">
                <a:latin typeface="Times New Roman" panose="02020603050405020304" pitchFamily="18" charset="0"/>
                <a:cs typeface="Times New Roman" panose="02020603050405020304" pitchFamily="18" charset="0"/>
              </a:rPr>
              <a:t>Buttons such as SET, PLUS, MINUS, and RESET are used to configure whistle limits and control system functions.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Power Supply: </a:t>
            </a:r>
            <a:r>
              <a:rPr lang="en-US" sz="2400" dirty="0">
                <a:latin typeface="Times New Roman" panose="02020603050405020304" pitchFamily="18" charset="0"/>
                <a:cs typeface="Times New Roman" panose="02020603050405020304" pitchFamily="18" charset="0"/>
              </a:rPr>
              <a:t>Rechargeable battery or DC power source with boost converter supplies power to Arduino and all electronic components.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Switch: </a:t>
            </a:r>
            <a:r>
              <a:rPr lang="en-US" sz="2400" dirty="0">
                <a:latin typeface="Times New Roman" panose="02020603050405020304" pitchFamily="18" charset="0"/>
                <a:cs typeface="Times New Roman" panose="02020603050405020304" pitchFamily="18" charset="0"/>
              </a:rPr>
              <a:t>Allows manual ON/OFF control of the smart cooker whistle counter system.</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Boost Converter: </a:t>
            </a:r>
            <a:r>
              <a:rPr lang="en-US" sz="2400" dirty="0">
                <a:latin typeface="Times New Roman" panose="02020603050405020304" pitchFamily="18" charset="0"/>
                <a:cs typeface="Times New Roman" panose="02020603050405020304" pitchFamily="18" charset="0"/>
              </a:rPr>
              <a:t>Regulates and stabilizes the power supply for smooth and reliable system performance.</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Jumper Wires: </a:t>
            </a:r>
            <a:r>
              <a:rPr lang="en-US" sz="2400" dirty="0">
                <a:latin typeface="Times New Roman" panose="02020603050405020304" pitchFamily="18" charset="0"/>
                <a:cs typeface="Times New Roman" panose="02020603050405020304" pitchFamily="18" charset="0"/>
              </a:rPr>
              <a:t>Used for electrical connections between Arduino and other electronic components.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3-Pin Plug: </a:t>
            </a:r>
            <a:r>
              <a:rPr lang="en-US" sz="2400" dirty="0">
                <a:latin typeface="Times New Roman" panose="02020603050405020304" pitchFamily="18" charset="0"/>
                <a:cs typeface="Times New Roman" panose="02020603050405020304" pitchFamily="18" charset="0"/>
              </a:rPr>
              <a:t>Provides external power connection to operate the system safely. </a:t>
            </a:r>
          </a:p>
        </p:txBody>
      </p:sp>
      <p:pic>
        <p:nvPicPr>
          <p:cNvPr id="32" name="Picture 31">
            <a:extLst>
              <a:ext uri="{FF2B5EF4-FFF2-40B4-BE49-F238E27FC236}">
                <a16:creationId xmlns:a16="http://schemas.microsoft.com/office/drawing/2014/main" id="{4231028A-EEDE-D29C-B6C9-3370C4B5180C}"/>
              </a:ext>
            </a:extLst>
          </p:cNvPr>
          <p:cNvPicPr>
            <a:picLocks noChangeAspect="1"/>
          </p:cNvPicPr>
          <p:nvPr/>
        </p:nvPicPr>
        <p:blipFill>
          <a:blip r:embed="rId6"/>
          <a:stretch>
            <a:fillRect/>
          </a:stretch>
        </p:blipFill>
        <p:spPr>
          <a:xfrm>
            <a:off x="10646348" y="16819063"/>
            <a:ext cx="5713589" cy="4013892"/>
          </a:xfrm>
          <a:prstGeom prst="rect">
            <a:avLst/>
          </a:prstGeom>
        </p:spPr>
      </p:pic>
      <p:sp>
        <p:nvSpPr>
          <p:cNvPr id="35" name="TextBox 34">
            <a:extLst>
              <a:ext uri="{FF2B5EF4-FFF2-40B4-BE49-F238E27FC236}">
                <a16:creationId xmlns:a16="http://schemas.microsoft.com/office/drawing/2014/main" id="{AADA0E33-B828-78EC-DF96-057AD15CFC7F}"/>
              </a:ext>
            </a:extLst>
          </p:cNvPr>
          <p:cNvSpPr txBox="1"/>
          <p:nvPr/>
        </p:nvSpPr>
        <p:spPr>
          <a:xfrm>
            <a:off x="92618" y="16722083"/>
            <a:ext cx="10553730" cy="5632311"/>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prototype demonstrated accurate whistle detection and automatic stove switch-off operation, improving cooking safety and reducing the need for continuous supervision.</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integrated LCD display, buzzer alerts, and push button controls enhanced user convenience by providing real-time monitoring and easy system configuration.</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power supply and relay-based control system delivered stable and reliable performance, supporting efficient whistle counting and automatic operation throughout the cooking process.</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project proved that combining whistle detection, automatic shut-off, and smart monitoring into a single system is feasible, innovative, and highly valuable for modern smart kitchen applications.</a:t>
            </a:r>
            <a:endParaRPr lang="en-IN"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Performance analysis showed improved cooking efficiency and reduced energy wastage compared to traditional manual monitoring methods, providing safer and more convenient operation.</a:t>
            </a:r>
          </a:p>
        </p:txBody>
      </p:sp>
    </p:spTree>
    <p:extLst>
      <p:ext uri="{BB962C8B-B14F-4D97-AF65-F5344CB8AC3E}">
        <p14:creationId xmlns:p14="http://schemas.microsoft.com/office/powerpoint/2010/main" val="22498106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1070</TotalTime>
  <Words>876</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Mani sai Lokesh Telapolu</cp:lastModifiedBy>
  <cp:revision>55</cp:revision>
  <dcterms:created xsi:type="dcterms:W3CDTF">2023-04-19T08:35:46Z</dcterms:created>
  <dcterms:modified xsi:type="dcterms:W3CDTF">2026-05-19T14:10:20Z</dcterms:modified>
</cp:coreProperties>
</file>